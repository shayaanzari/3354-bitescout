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Roboto Condensed"/>
      <p:regular r:id="rId27"/>
      <p:bold r:id="rId28"/>
      <p:italic r:id="rId29"/>
      <p:boldItalic r:id="rId30"/>
    </p:embeddedFont>
    <p:embeddedFont>
      <p:font typeface="Noto Sans Symbols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fP72qNMfTlfl7gxirVO2RhPy0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6DA990-2BCB-45BF-915B-95D939E744E6}">
  <a:tblStyle styleId="{E36DA990-2BCB-45BF-915B-95D939E744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RobotoCondensed-bold.fntdata"/><Relationship Id="rId27" Type="http://schemas.openxmlformats.org/officeDocument/2006/relationships/font" Target="fonts/RobotoCondense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Condense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otoSansSymbols-regular.fntdata"/><Relationship Id="rId30" Type="http://schemas.openxmlformats.org/officeDocument/2006/relationships/font" Target="fonts/RobotoCondensed-boldItalic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NotoSansSymbol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4b9e7578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4b9e757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4b9e7578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4b9e757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4b9e7578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4b9e7578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4b9e75780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4b9e7578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YAZDAAN: you can add things like “As a result, they will not be burnt out nor feel as if they have not worked on the app enough.” Or “This ensures that the developers are able to adhere to a deadline while providing time for a safe and successful app development process.”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6ae09c359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6ae09c35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YAZDAAN: you can add things like “As a result, they will not be burnt out nor feel as if they have not worked on the app enough.” Or “This ensures that the developers are able to adhere to a deadline while providing time for a safe and successful app development process.”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4b9e75780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4b9e7578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4b9e75780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4b9e7578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480bb18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5480bb18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4b9e7578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4b9e75780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4b9e7578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4b9e75780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4b9e7578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a4b9e75780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69230ee9d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69230ee9d_3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58de1776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58de177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/>
          <p:nvPr/>
        </p:nvSpPr>
        <p:spPr>
          <a:xfrm>
            <a:off x="4143960" y="228600"/>
            <a:ext cx="4771080" cy="45442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" name="Google Shape;8;p14"/>
          <p:cNvSpPr txBox="1"/>
          <p:nvPr>
            <p:ph type="title"/>
          </p:nvPr>
        </p:nvSpPr>
        <p:spPr>
          <a:xfrm>
            <a:off x="115200" y="215640"/>
            <a:ext cx="3767400" cy="2490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4"/>
          <p:cNvSpPr txBox="1"/>
          <p:nvPr>
            <p:ph idx="1" type="body"/>
          </p:nvPr>
        </p:nvSpPr>
        <p:spPr>
          <a:xfrm>
            <a:off x="4448520" y="419760"/>
            <a:ext cx="4162320" cy="416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0" type="blank">
  <p:cSld name="BLANK">
    <p:bg>
      <p:bgPr>
        <a:solidFill>
          <a:schemeClr val="lt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5"/>
          <p:cNvSpPr txBox="1"/>
          <p:nvPr>
            <p:ph type="title"/>
          </p:nvPr>
        </p:nvSpPr>
        <p:spPr>
          <a:xfrm>
            <a:off x="228600" y="4342320"/>
            <a:ext cx="62197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0_1">
  <p:cSld name="CUSTOM_10_1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228600" y="204480"/>
            <a:ext cx="5598720" cy="10213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6014880" y="-12960"/>
            <a:ext cx="3128760" cy="515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title"/>
          </p:nvPr>
        </p:nvSpPr>
        <p:spPr>
          <a:xfrm>
            <a:off x="228600" y="255240"/>
            <a:ext cx="2655360" cy="1946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17"/>
          <p:cNvSpPr/>
          <p:nvPr/>
        </p:nvSpPr>
        <p:spPr>
          <a:xfrm>
            <a:off x="6045840" y="498960"/>
            <a:ext cx="2819520" cy="583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b="0" lang="en-US" sz="1000" u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lang="en-US" sz="1000" u="sng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lang="en-US" sz="1000" u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and includes icons, infographics &amp; images by </a:t>
            </a:r>
            <a:r>
              <a:rPr b="1" lang="en-US" sz="1000" u="sng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lang="en-US" sz="1000" u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0" sz="1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hasCustomPrompt="1" type="title"/>
          </p:nvPr>
        </p:nvSpPr>
        <p:spPr>
          <a:xfrm>
            <a:off x="5405040" y="166320"/>
            <a:ext cx="3510000" cy="1292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  <p:sp>
        <p:nvSpPr>
          <p:cNvPr id="21" name="Google Shape;21;p18"/>
          <p:cNvSpPr txBox="1"/>
          <p:nvPr>
            <p:ph idx="1" type="body"/>
          </p:nvPr>
        </p:nvSpPr>
        <p:spPr>
          <a:xfrm>
            <a:off x="533160" y="419760"/>
            <a:ext cx="4162320" cy="416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228600" y="416520"/>
            <a:ext cx="2724120" cy="11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20"/>
          <p:cNvSpPr txBox="1"/>
          <p:nvPr>
            <p:ph idx="2" type="title"/>
          </p:nvPr>
        </p:nvSpPr>
        <p:spPr>
          <a:xfrm>
            <a:off x="4970160" y="2084760"/>
            <a:ext cx="639720" cy="4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20"/>
          <p:cNvSpPr txBox="1"/>
          <p:nvPr>
            <p:ph idx="3" type="title"/>
          </p:nvPr>
        </p:nvSpPr>
        <p:spPr>
          <a:xfrm>
            <a:off x="4970160" y="972720"/>
            <a:ext cx="639720" cy="41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20"/>
          <p:cNvSpPr txBox="1"/>
          <p:nvPr>
            <p:ph idx="4" type="title"/>
          </p:nvPr>
        </p:nvSpPr>
        <p:spPr>
          <a:xfrm>
            <a:off x="4970880" y="416520"/>
            <a:ext cx="638640" cy="41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20"/>
          <p:cNvSpPr txBox="1"/>
          <p:nvPr>
            <p:ph idx="5" type="title"/>
          </p:nvPr>
        </p:nvSpPr>
        <p:spPr>
          <a:xfrm>
            <a:off x="4970160" y="1528560"/>
            <a:ext cx="639720" cy="4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20"/>
          <p:cNvSpPr txBox="1"/>
          <p:nvPr>
            <p:ph idx="6" type="title"/>
          </p:nvPr>
        </p:nvSpPr>
        <p:spPr>
          <a:xfrm>
            <a:off x="4970160" y="3197160"/>
            <a:ext cx="639720" cy="41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20"/>
          <p:cNvSpPr txBox="1"/>
          <p:nvPr>
            <p:ph idx="7" type="title"/>
          </p:nvPr>
        </p:nvSpPr>
        <p:spPr>
          <a:xfrm>
            <a:off x="4970160" y="3753000"/>
            <a:ext cx="639720" cy="4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20"/>
          <p:cNvSpPr txBox="1"/>
          <p:nvPr>
            <p:ph idx="8" type="title"/>
          </p:nvPr>
        </p:nvSpPr>
        <p:spPr>
          <a:xfrm>
            <a:off x="4970160" y="4309200"/>
            <a:ext cx="639720" cy="4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20"/>
          <p:cNvSpPr txBox="1"/>
          <p:nvPr>
            <p:ph idx="9" type="title"/>
          </p:nvPr>
        </p:nvSpPr>
        <p:spPr>
          <a:xfrm>
            <a:off x="4970160" y="2640960"/>
            <a:ext cx="639720" cy="4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6_1">
  <p:cSld name="CUSTOM_6_1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228600" y="960480"/>
            <a:ext cx="2136600" cy="10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3119040" y="1144800"/>
            <a:ext cx="1825560" cy="178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5104080" y="1144800"/>
            <a:ext cx="1825560" cy="178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21"/>
          <p:cNvSpPr txBox="1"/>
          <p:nvPr>
            <p:ph idx="3" type="body"/>
          </p:nvPr>
        </p:nvSpPr>
        <p:spPr>
          <a:xfrm>
            <a:off x="7089480" y="1144800"/>
            <a:ext cx="1825560" cy="178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7">
  <p:cSld name="CUSTOM_7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22"/>
          <p:cNvSpPr txBox="1"/>
          <p:nvPr>
            <p:ph idx="2" type="title"/>
          </p:nvPr>
        </p:nvSpPr>
        <p:spPr>
          <a:xfrm>
            <a:off x="1700640" y="2433960"/>
            <a:ext cx="6210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22"/>
          <p:cNvSpPr txBox="1"/>
          <p:nvPr>
            <p:ph idx="3" type="title"/>
          </p:nvPr>
        </p:nvSpPr>
        <p:spPr>
          <a:xfrm>
            <a:off x="4261320" y="2433960"/>
            <a:ext cx="6210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22"/>
          <p:cNvSpPr txBox="1"/>
          <p:nvPr>
            <p:ph idx="4" type="title"/>
          </p:nvPr>
        </p:nvSpPr>
        <p:spPr>
          <a:xfrm>
            <a:off x="6822000" y="2433960"/>
            <a:ext cx="6210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22"/>
          <p:cNvSpPr txBox="1"/>
          <p:nvPr>
            <p:ph idx="5" type="title"/>
          </p:nvPr>
        </p:nvSpPr>
        <p:spPr>
          <a:xfrm>
            <a:off x="1700640" y="3761280"/>
            <a:ext cx="6210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22"/>
          <p:cNvSpPr txBox="1"/>
          <p:nvPr>
            <p:ph idx="6" type="title"/>
          </p:nvPr>
        </p:nvSpPr>
        <p:spPr>
          <a:xfrm>
            <a:off x="4261320" y="3761280"/>
            <a:ext cx="6210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22"/>
          <p:cNvSpPr txBox="1"/>
          <p:nvPr>
            <p:ph idx="7" type="title"/>
          </p:nvPr>
        </p:nvSpPr>
        <p:spPr>
          <a:xfrm>
            <a:off x="6822000" y="3761280"/>
            <a:ext cx="6210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">
  <p:cSld name="CUSTOM_9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23"/>
          <p:cNvCxnSpPr/>
          <p:nvPr/>
        </p:nvCxnSpPr>
        <p:spPr>
          <a:xfrm>
            <a:off x="-69840" y="224640"/>
            <a:ext cx="9284040" cy="360"/>
          </a:xfrm>
          <a:prstGeom prst="straightConnector1">
            <a:avLst/>
          </a:prstGeom>
          <a:noFill/>
          <a:ln cap="flat" cmpd="sng" w="9525">
            <a:solidFill>
              <a:srgbClr val="AAA9A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_1">
  <p:cSld name="CUSTOM_9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24"/>
          <p:cNvCxnSpPr/>
          <p:nvPr/>
        </p:nvCxnSpPr>
        <p:spPr>
          <a:xfrm>
            <a:off x="260280" y="-104760"/>
            <a:ext cx="360" cy="5353200"/>
          </a:xfrm>
          <a:prstGeom prst="straightConnector1">
            <a:avLst/>
          </a:prstGeom>
          <a:noFill/>
          <a:ln cap="flat" cmpd="sng" w="9525">
            <a:solidFill>
              <a:srgbClr val="AAA9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24"/>
          <p:cNvCxnSpPr/>
          <p:nvPr/>
        </p:nvCxnSpPr>
        <p:spPr>
          <a:xfrm>
            <a:off x="-24120" y="4914720"/>
            <a:ext cx="9284040" cy="360"/>
          </a:xfrm>
          <a:prstGeom prst="straightConnector1">
            <a:avLst/>
          </a:prstGeom>
          <a:noFill/>
          <a:ln cap="flat" cmpd="sng" w="9525">
            <a:solidFill>
              <a:srgbClr val="AAA9A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3481200" y="1233720"/>
            <a:ext cx="3173040" cy="3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25"/>
          <p:cNvSpPr txBox="1"/>
          <p:nvPr>
            <p:ph type="title"/>
          </p:nvPr>
        </p:nvSpPr>
        <p:spPr>
          <a:xfrm>
            <a:off x="1242720" y="228600"/>
            <a:ext cx="3870000" cy="1728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25"/>
          <p:cNvSpPr txBox="1"/>
          <p:nvPr>
            <p:ph idx="2" type="title"/>
          </p:nvPr>
        </p:nvSpPr>
        <p:spPr>
          <a:xfrm>
            <a:off x="78480" y="228600"/>
            <a:ext cx="1163520" cy="1106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6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720000" y="1278000"/>
            <a:ext cx="7703640" cy="3330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1832400" y="4342320"/>
            <a:ext cx="58402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1464480" y="228600"/>
            <a:ext cx="6214320" cy="264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221760" y="228600"/>
            <a:ext cx="86932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/>
          <p:nvPr>
            <p:ph type="title"/>
          </p:nvPr>
        </p:nvSpPr>
        <p:spPr>
          <a:xfrm>
            <a:off x="720000" y="836280"/>
            <a:ext cx="3519360" cy="2295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29"/>
          <p:cNvSpPr txBox="1"/>
          <p:nvPr>
            <p:ph idx="1" type="body"/>
          </p:nvPr>
        </p:nvSpPr>
        <p:spPr>
          <a:xfrm>
            <a:off x="5273280" y="533880"/>
            <a:ext cx="2909520" cy="407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0"/>
          <p:cNvSpPr txBox="1"/>
          <p:nvPr>
            <p:ph type="title"/>
          </p:nvPr>
        </p:nvSpPr>
        <p:spPr>
          <a:xfrm>
            <a:off x="1890000" y="1307160"/>
            <a:ext cx="5363640" cy="25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713160" y="539640"/>
            <a:ext cx="4335840" cy="12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2"/>
          <p:cNvSpPr txBox="1"/>
          <p:nvPr>
            <p:ph idx="1"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</a:lstStyle>
          <a:p/>
        </p:txBody>
      </p:sp>
      <p:sp>
        <p:nvSpPr>
          <p:cNvPr id="72" name="Google Shape;72;p32"/>
          <p:cNvSpPr txBox="1"/>
          <p:nvPr>
            <p:ph type="title"/>
          </p:nvPr>
        </p:nvSpPr>
        <p:spPr>
          <a:xfrm>
            <a:off x="228600" y="228600"/>
            <a:ext cx="3260160" cy="1052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powderuner.github.io/BiteScout/" TargetMode="External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/>
          <p:nvPr>
            <p:ph type="title"/>
          </p:nvPr>
        </p:nvSpPr>
        <p:spPr>
          <a:xfrm>
            <a:off x="114480" y="219240"/>
            <a:ext cx="3771720" cy="24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 Condensed"/>
              <a:buNone/>
            </a:pPr>
            <a:r>
              <a:rPr b="0" lang="en-US" sz="6000" u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BiteScout</a:t>
            </a:r>
            <a:endParaRPr b="0" sz="6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" title="woman-teaching-classroom (3).jpg"/>
          <p:cNvSpPr/>
          <p:nvPr/>
        </p:nvSpPr>
        <p:spPr>
          <a:xfrm>
            <a:off x="4448520" y="419760"/>
            <a:ext cx="4162320" cy="416232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79" name="Google Shape;79;p1"/>
          <p:cNvCxnSpPr/>
          <p:nvPr/>
        </p:nvCxnSpPr>
        <p:spPr>
          <a:xfrm>
            <a:off x="-24120" y="4914720"/>
            <a:ext cx="9284040" cy="360"/>
          </a:xfrm>
          <a:prstGeom prst="straightConnector1">
            <a:avLst/>
          </a:prstGeom>
          <a:noFill/>
          <a:ln cap="flat" cmpd="sng" w="9525">
            <a:solidFill>
              <a:srgbClr val="AAA9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"/>
          <p:cNvSpPr txBox="1"/>
          <p:nvPr>
            <p:ph idx="1" type="subTitle"/>
          </p:nvPr>
        </p:nvSpPr>
        <p:spPr>
          <a:xfrm>
            <a:off x="196018" y="3876850"/>
            <a:ext cx="33756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4951"/>
              <a:buFont typeface="Arial"/>
              <a:buNone/>
            </a:pPr>
            <a:r>
              <a:rPr lang="en-US" sz="2080">
                <a:solidFill>
                  <a:srgbClr val="595959"/>
                </a:solidFill>
              </a:rPr>
              <a:t>Mark Armstrong, Sammy Bustos, Ridham Gabani, Rami Kamel, Youngjun Ryoo, Khaja Yazdaan, Shayaan Zari</a:t>
            </a:r>
            <a:endParaRPr sz="2080">
              <a:solidFill>
                <a:srgbClr val="595959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>
            <p:ph type="title"/>
          </p:nvPr>
        </p:nvSpPr>
        <p:spPr>
          <a:xfrm>
            <a:off x="720000" y="444960"/>
            <a:ext cx="7703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Condensed"/>
              <a:buNone/>
            </a:pPr>
            <a:r>
              <a:rPr lang="en-US" sz="3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Objective</a:t>
            </a:r>
            <a:endParaRPr sz="3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boto Condensed"/>
              <a:buNone/>
            </a:pPr>
            <a:r>
              <a:t/>
            </a:r>
            <a:endParaRPr sz="30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6" name="Google Shape;86;p2"/>
          <p:cNvSpPr txBox="1"/>
          <p:nvPr>
            <p:ph idx="1" type="body"/>
          </p:nvPr>
        </p:nvSpPr>
        <p:spPr>
          <a:xfrm>
            <a:off x="720000" y="1017350"/>
            <a:ext cx="7703700" cy="392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None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Develop a mobile/web application that provides personalized restaurant recommendations based on user preferences and location.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Goals: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Help users find restaurants matching their specific preferences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Filter by cuisine type, dietary restrictions, and cravings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Use GPS for nearby restaurant recommendations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Intuitive interface for seamless navigation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Current restaurant data, reviews, and directions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4b9e75780_0_0"/>
          <p:cNvSpPr txBox="1"/>
          <p:nvPr>
            <p:ph type="title"/>
          </p:nvPr>
        </p:nvSpPr>
        <p:spPr>
          <a:xfrm>
            <a:off x="720000" y="444960"/>
            <a:ext cx="7703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Roboto Condensed"/>
                <a:ea typeface="Roboto Condensed"/>
                <a:cs typeface="Roboto Condensed"/>
                <a:sym typeface="Roboto Condensed"/>
              </a:rPr>
              <a:t>Cost and Effort Estimation</a:t>
            </a:r>
            <a:endParaRPr sz="27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2" name="Google Shape;92;g3a4b9e75780_0_0"/>
          <p:cNvSpPr txBox="1"/>
          <p:nvPr>
            <p:ph idx="1" type="body"/>
          </p:nvPr>
        </p:nvSpPr>
        <p:spPr>
          <a:xfrm>
            <a:off x="720000" y="1278000"/>
            <a:ext cx="7703700" cy="33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We did a Function point analysis to estimate the effort for the project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○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Adjusted function points = 152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○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Productivity = 10 FP per person-week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○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Estimated effort = 16 person-weeks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Estimated cost of personnel = $33,000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○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Average rate of $8,000 per month per developer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○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7 developers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○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Additional cost for training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4b9e75780_0_10"/>
          <p:cNvSpPr txBox="1"/>
          <p:nvPr>
            <p:ph type="title"/>
          </p:nvPr>
        </p:nvSpPr>
        <p:spPr>
          <a:xfrm>
            <a:off x="720000" y="444960"/>
            <a:ext cx="7703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Roboto Condensed"/>
                <a:ea typeface="Roboto Condensed"/>
                <a:cs typeface="Roboto Condensed"/>
                <a:sym typeface="Roboto Condensed"/>
              </a:rPr>
              <a:t>Estimated Hardware and Software Cost</a:t>
            </a:r>
            <a:endParaRPr sz="27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" name="Google Shape;98;g3a4b9e75780_0_10"/>
          <p:cNvSpPr txBox="1"/>
          <p:nvPr>
            <p:ph idx="1" type="body"/>
          </p:nvPr>
        </p:nvSpPr>
        <p:spPr>
          <a:xfrm>
            <a:off x="720000" y="1278000"/>
            <a:ext cx="7703700" cy="33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>
                <a:latin typeface="Noto Sans Symbols"/>
                <a:ea typeface="Noto Sans Symbols"/>
                <a:cs typeface="Noto Sans Symbols"/>
                <a:sym typeface="Noto Sans Symbols"/>
              </a:rPr>
              <a:t>Hardware</a:t>
            </a:r>
            <a:endParaRPr b="1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>
                <a:latin typeface="Noto Sans Symbols"/>
                <a:ea typeface="Noto Sans Symbols"/>
                <a:cs typeface="Noto Sans Symbols"/>
                <a:sym typeface="Noto Sans Symbols"/>
              </a:rPr>
              <a:t>Software</a:t>
            </a:r>
            <a:endParaRPr b="1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aphicFrame>
        <p:nvGraphicFramePr>
          <p:cNvPr id="99" name="Google Shape;99;g3a4b9e75780_0_10"/>
          <p:cNvGraphicFramePr/>
          <p:nvPr/>
        </p:nvGraphicFramePr>
        <p:xfrm>
          <a:off x="938700" y="171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{E36DA990-2BCB-45BF-915B-95D939E744E6}</a:tableStyleId>
              </a:tblPr>
              <a:tblGrid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Development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$10,500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Production (Cloud)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$2,460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Security and Backup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$1,800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0" name="Google Shape;100;g3a4b9e75780_0_10"/>
          <p:cNvGraphicFramePr/>
          <p:nvPr/>
        </p:nvGraphicFramePr>
        <p:xfrm>
          <a:off x="952350" y="332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{E36DA990-2BCB-45BF-915B-95D939E744E6}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Development tools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$1,600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Security &amp; Monitoring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$4,080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Design &amp; Prototyping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$1,020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Testing &amp; QA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$1,800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Third-Party APIs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$5,000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Project Management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$900</a:t>
                      </a:r>
                      <a:endParaRPr sz="13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4b9e75780_0_20"/>
          <p:cNvSpPr txBox="1"/>
          <p:nvPr>
            <p:ph type="title"/>
          </p:nvPr>
        </p:nvSpPr>
        <p:spPr>
          <a:xfrm>
            <a:off x="720000" y="444960"/>
            <a:ext cx="7703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Roboto Condensed"/>
                <a:ea typeface="Roboto Condensed"/>
                <a:cs typeface="Roboto Condensed"/>
                <a:sym typeface="Roboto Condensed"/>
              </a:rPr>
              <a:t>Total Project Investment</a:t>
            </a:r>
            <a:endParaRPr sz="27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6" name="Google Shape;106;g3a4b9e75780_0_20"/>
          <p:cNvSpPr txBox="1"/>
          <p:nvPr>
            <p:ph idx="1" type="body"/>
          </p:nvPr>
        </p:nvSpPr>
        <p:spPr>
          <a:xfrm>
            <a:off x="720000" y="1278000"/>
            <a:ext cx="7703700" cy="33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Total Hardware Cost = $14,760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Total Software Cost = $14,400 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Total Personnel Cost = $33,000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Total Cost = $62,160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4b9e75780_0_31"/>
          <p:cNvSpPr txBox="1"/>
          <p:nvPr>
            <p:ph type="title"/>
          </p:nvPr>
        </p:nvSpPr>
        <p:spPr>
          <a:xfrm>
            <a:off x="720000" y="444960"/>
            <a:ext cx="7703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Roboto Condensed"/>
                <a:ea typeface="Roboto Condensed"/>
                <a:cs typeface="Roboto Condensed"/>
                <a:sym typeface="Roboto Condensed"/>
              </a:rPr>
              <a:t>Project Schedule Guidelines</a:t>
            </a:r>
            <a:endParaRPr sz="27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2" name="Google Shape;112;g3a4b9e75780_0_31"/>
          <p:cNvSpPr txBox="1"/>
          <p:nvPr>
            <p:ph idx="1" type="body"/>
          </p:nvPr>
        </p:nvSpPr>
        <p:spPr>
          <a:xfrm>
            <a:off x="720000" y="1278000"/>
            <a:ext cx="7703700" cy="33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The timeline is three weeks, with the development stage split between 7 developers. The start date will be 01/12/2026 and end date will be 01/30/2026. 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Weekends are excluded to ensure a sustainable pace.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Developers will work on the project for 8 hours a day, similar to a 9-5 workday.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This is also compliant with labor laws and protects employees. 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They will not be burnt out nor feel as if they have not worked on the app enough.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This ensures that the developers can adhere to a deadline while creating a successful app.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6ae09c359_0_7"/>
          <p:cNvSpPr txBox="1"/>
          <p:nvPr>
            <p:ph type="title"/>
          </p:nvPr>
        </p:nvSpPr>
        <p:spPr>
          <a:xfrm>
            <a:off x="720000" y="444960"/>
            <a:ext cx="7703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Roboto Condensed"/>
                <a:ea typeface="Roboto Condensed"/>
                <a:cs typeface="Roboto Condensed"/>
                <a:sym typeface="Roboto Condensed"/>
              </a:rPr>
              <a:t>Project Schedule</a:t>
            </a:r>
            <a:endParaRPr sz="27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8" name="Google Shape;118;g3a6ae09c359_0_7"/>
          <p:cNvSpPr txBox="1"/>
          <p:nvPr>
            <p:ph idx="1" type="body"/>
          </p:nvPr>
        </p:nvSpPr>
        <p:spPr>
          <a:xfrm>
            <a:off x="720150" y="1113850"/>
            <a:ext cx="7703700" cy="33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The project schedule is divided into three weeklong sprints.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-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Week 1: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Foundation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(infrastructure, basic APIs, visual design)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-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Week 2: Core business logic (preference engine, CI/CD)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-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Week 3: System integrating and testing, QA, documentation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Week 1 - Setting up servers and restaurants in terms of geographical location, as well as the UI of the app.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Week 2 - Creating recommendations based on user filters, and setting up updates that will deploy automatically to improve the app.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Week 3 - The backend is connected to UI, allowing for testing of restaurants based on user inputs, as well as documentation for maintenance.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4b9e75780_0_39"/>
          <p:cNvSpPr txBox="1"/>
          <p:nvPr>
            <p:ph type="title"/>
          </p:nvPr>
        </p:nvSpPr>
        <p:spPr>
          <a:xfrm>
            <a:off x="720000" y="444960"/>
            <a:ext cx="7703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Roboto Condensed"/>
                <a:ea typeface="Roboto Condensed"/>
                <a:cs typeface="Roboto Condensed"/>
                <a:sym typeface="Roboto Condensed"/>
              </a:rPr>
              <a:t>Functional Requirements</a:t>
            </a:r>
            <a:endParaRPr sz="27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4" name="Google Shape;124;g3a4b9e75780_0_39"/>
          <p:cNvSpPr txBox="1"/>
          <p:nvPr>
            <p:ph idx="1" type="body"/>
          </p:nvPr>
        </p:nvSpPr>
        <p:spPr>
          <a:xfrm>
            <a:off x="720000" y="1278000"/>
            <a:ext cx="7882500" cy="35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The system must support secure account creation and management.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Users can set preferences (cuisine, distance, popularity).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The system fetches nearby restaurants based on location and preferences.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The system provides directions to selected restaurants.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Users can submit reviews for restaurants.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Users can view reviews from others.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The system displays delivery partner details and real-time order status.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4b9e75780_0_53"/>
          <p:cNvSpPr txBox="1"/>
          <p:nvPr>
            <p:ph type="title"/>
          </p:nvPr>
        </p:nvSpPr>
        <p:spPr>
          <a:xfrm>
            <a:off x="720000" y="444960"/>
            <a:ext cx="7703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Roboto Condensed"/>
                <a:ea typeface="Roboto Condensed"/>
                <a:cs typeface="Roboto Condensed"/>
                <a:sym typeface="Roboto Condensed"/>
              </a:rPr>
              <a:t>Non-</a:t>
            </a:r>
            <a:r>
              <a:rPr lang="en-US" sz="2700">
                <a:latin typeface="Roboto Condensed"/>
                <a:ea typeface="Roboto Condensed"/>
                <a:cs typeface="Roboto Condensed"/>
                <a:sym typeface="Roboto Condensed"/>
              </a:rPr>
              <a:t>Functional Requirements</a:t>
            </a:r>
            <a:endParaRPr sz="27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0" name="Google Shape;130;g3a4b9e75780_0_53"/>
          <p:cNvSpPr txBox="1"/>
          <p:nvPr>
            <p:ph idx="1" type="body"/>
          </p:nvPr>
        </p:nvSpPr>
        <p:spPr>
          <a:xfrm>
            <a:off x="720000" y="1278000"/>
            <a:ext cx="7703700" cy="33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1. Product Requirements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●"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Efficiency: The website shall load the home page in under 2 seconds on a 5G connection. The search algorithm shall return results within 3 seconds.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●"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Dependability: The application shall maintain 90% monthly uptime (excluding maintenance) and shall gracefully handle third-party errors without crashing.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●"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Security: All data shall be transmitted over HTTPS. Passwords shall be hashed and salted. The system shall be protected against SQL Injection and XSS and shall not expose sensitive data.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●"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Usability: New users shall understand the main search feature without instruction. The interface shall be intuitive, with clear filters, and shall be responsive across devices.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●"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Performance: The system shall support 1,000 concurrent users during peak hours without significant degradation.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2. Organizational Requirements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●"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Operational: The application shall be deployed using cloud-based containerization and shall integrate with logging and error-monitoring services.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●"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Development: The backend shall use Python/Flask; the frontend shall use HTML and JavaScript. Source code shall be managed with Git and hosted on GitHub.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3. External Requirements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●"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Regulatory: No current payment regulations apply, but the system shall allow future PCI-DSS compliant payment integration.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●"/>
            </a:pPr>
            <a:r>
              <a:rPr lang="en-US" sz="1100">
                <a:latin typeface="Noto Sans Symbols"/>
                <a:ea typeface="Noto Sans Symbols"/>
                <a:cs typeface="Noto Sans Symbols"/>
                <a:sym typeface="Noto Sans Symbols"/>
              </a:rPr>
              <a:t>Ethical: The recommendation algorithm shall avoid unfair bias, and user data shall not be sold to third parties without explicit opt-in consent.</a:t>
            </a:r>
            <a:endParaRPr sz="11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5480bb180_1_0"/>
          <p:cNvSpPr txBox="1"/>
          <p:nvPr>
            <p:ph type="title"/>
          </p:nvPr>
        </p:nvSpPr>
        <p:spPr>
          <a:xfrm>
            <a:off x="720000" y="444960"/>
            <a:ext cx="7703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Roboto Condensed"/>
                <a:ea typeface="Roboto Condensed"/>
                <a:cs typeface="Roboto Condensed"/>
                <a:sym typeface="Roboto Condensed"/>
              </a:rPr>
              <a:t>Comparison With Similar Designs</a:t>
            </a:r>
            <a:endParaRPr sz="27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5480bb180_1_0"/>
          <p:cNvSpPr txBox="1"/>
          <p:nvPr>
            <p:ph idx="1" type="body"/>
          </p:nvPr>
        </p:nvSpPr>
        <p:spPr>
          <a:xfrm>
            <a:off x="720000" y="1278000"/>
            <a:ext cx="7703700" cy="33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>
                <a:latin typeface="Noto Sans Symbols"/>
                <a:ea typeface="Noto Sans Symbols"/>
                <a:cs typeface="Noto Sans Symbols"/>
                <a:sym typeface="Noto Sans Symbols"/>
              </a:rPr>
              <a:t>Yelp</a:t>
            </a:r>
            <a:r>
              <a:rPr lang="en-US" sz="1400">
                <a:latin typeface="Noto Sans Symbols"/>
                <a:ea typeface="Noto Sans Symbols"/>
                <a:cs typeface="Noto Sans Symbols"/>
                <a:sym typeface="Noto Sans Symbols"/>
              </a:rPr>
              <a:t> – Focuses mainly on user reviews and manual searching • no personalized recommendation engine.</a:t>
            </a:r>
            <a:endParaRPr sz="1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>
                <a:latin typeface="Noto Sans Symbols"/>
                <a:ea typeface="Noto Sans Symbols"/>
                <a:cs typeface="Noto Sans Symbols"/>
                <a:sym typeface="Noto Sans Symbols"/>
              </a:rPr>
              <a:t>Google Maps</a:t>
            </a:r>
            <a:r>
              <a:rPr lang="en-US" sz="1400">
                <a:latin typeface="Noto Sans Symbols"/>
                <a:ea typeface="Noto Sans Symbols"/>
                <a:cs typeface="Noto Sans Symbols"/>
                <a:sym typeface="Noto Sans Symbols"/>
              </a:rPr>
              <a:t> – Great for navigation and basic info • shows lists by distance or rating, not tailored preferences.</a:t>
            </a:r>
            <a:endParaRPr sz="1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>
                <a:latin typeface="Noto Sans Symbols"/>
                <a:ea typeface="Noto Sans Symbols"/>
                <a:cs typeface="Noto Sans Symbols"/>
                <a:sym typeface="Noto Sans Symbols"/>
              </a:rPr>
              <a:t>BiteScout</a:t>
            </a:r>
            <a:r>
              <a:rPr lang="en-US" sz="1400">
                <a:latin typeface="Noto Sans Symbols"/>
                <a:ea typeface="Noto Sans Symbols"/>
                <a:cs typeface="Noto Sans Symbols"/>
                <a:sym typeface="Noto Sans Symbols"/>
              </a:rPr>
              <a:t> – Uses a preference-based recommendation system to give personalized suggestions (dietary needs, distance,cuisine, restaurant style, meal type).</a:t>
            </a:r>
            <a:endParaRPr sz="11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b="1" lang="en-US" sz="1400">
                <a:latin typeface="Noto Sans Symbols"/>
                <a:ea typeface="Noto Sans Symbols"/>
                <a:cs typeface="Noto Sans Symbols"/>
                <a:sym typeface="Noto Sans Symbols"/>
              </a:rPr>
              <a:t>Key Difference:</a:t>
            </a:r>
            <a:r>
              <a:rPr lang="en-US" sz="1400">
                <a:latin typeface="Noto Sans Symbols"/>
                <a:ea typeface="Noto Sans Symbols"/>
                <a:cs typeface="Noto Sans Symbols"/>
                <a:sym typeface="Noto Sans Symbols"/>
              </a:rPr>
              <a:t> BiteScout automatically filters based on what the user wants, instead of making the user scroll and compare.</a:t>
            </a:r>
            <a:endParaRPr sz="14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4b9e75780_0_90"/>
          <p:cNvSpPr txBox="1"/>
          <p:nvPr>
            <p:ph type="title"/>
          </p:nvPr>
        </p:nvSpPr>
        <p:spPr>
          <a:xfrm>
            <a:off x="228600" y="204476"/>
            <a:ext cx="55986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Condensed"/>
              <a:buNone/>
            </a:pPr>
            <a:r>
              <a:rPr lang="en-US" sz="2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Case Diagram</a:t>
            </a:r>
            <a:endParaRPr b="0" sz="27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a4b9e75780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425" y="378238"/>
            <a:ext cx="4744800" cy="438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a4b9e75780_0_90"/>
          <p:cNvSpPr txBox="1"/>
          <p:nvPr/>
        </p:nvSpPr>
        <p:spPr>
          <a:xfrm>
            <a:off x="82825" y="1132450"/>
            <a:ext cx="41625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●"/>
            </a:pPr>
            <a:r>
              <a:rPr lang="en-US" sz="1200">
                <a:latin typeface="Noto Sans Symbols"/>
                <a:ea typeface="Noto Sans Symbols"/>
                <a:cs typeface="Noto Sans Symbols"/>
                <a:sym typeface="Noto Sans Symbols"/>
              </a:rPr>
              <a:t>User creates an account to access personalized features</a:t>
            </a:r>
            <a:endParaRPr sz="12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●"/>
            </a:pPr>
            <a:r>
              <a:rPr lang="en-US" sz="1200">
                <a:latin typeface="Noto Sans Symbols"/>
                <a:ea typeface="Noto Sans Symbols"/>
                <a:cs typeface="Noto Sans Symbols"/>
                <a:sym typeface="Noto Sans Symbols"/>
              </a:rPr>
              <a:t>Sets preferences such as cuisine type, distance, and budget</a:t>
            </a:r>
            <a:endParaRPr sz="12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●"/>
            </a:pPr>
            <a:r>
              <a:rPr lang="en-US" sz="1200">
                <a:latin typeface="Noto Sans Symbols"/>
                <a:ea typeface="Noto Sans Symbols"/>
                <a:cs typeface="Noto Sans Symbols"/>
                <a:sym typeface="Noto Sans Symbols"/>
              </a:rPr>
              <a:t>Searches and fetches nearby restaurants based on preferences and location</a:t>
            </a:r>
            <a:endParaRPr sz="12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●"/>
            </a:pPr>
            <a:r>
              <a:rPr lang="en-US" sz="1200">
                <a:latin typeface="Noto Sans Symbols"/>
                <a:ea typeface="Noto Sans Symbols"/>
                <a:cs typeface="Noto Sans Symbols"/>
                <a:sym typeface="Noto Sans Symbols"/>
              </a:rPr>
              <a:t>Gets directions through integrated map services</a:t>
            </a:r>
            <a:endParaRPr sz="12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●"/>
            </a:pPr>
            <a:r>
              <a:rPr lang="en-US" sz="1200">
                <a:latin typeface="Noto Sans Symbols"/>
                <a:ea typeface="Noto Sans Symbols"/>
                <a:cs typeface="Noto Sans Symbols"/>
                <a:sym typeface="Noto Sans Symbols"/>
              </a:rPr>
              <a:t>Submits reviews to share feedback and improve recommendations</a:t>
            </a:r>
            <a:endParaRPr sz="15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4b9e75780_0_84"/>
          <p:cNvSpPr txBox="1"/>
          <p:nvPr>
            <p:ph type="title"/>
          </p:nvPr>
        </p:nvSpPr>
        <p:spPr>
          <a:xfrm>
            <a:off x="-8185" y="204476"/>
            <a:ext cx="55986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Condensed"/>
              <a:buNone/>
            </a:pPr>
            <a:r>
              <a:rPr lang="en-US" sz="2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Sequence Diagram</a:t>
            </a:r>
            <a:endParaRPr b="0" sz="27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4b9e75780_0_84"/>
          <p:cNvSpPr txBox="1"/>
          <p:nvPr/>
        </p:nvSpPr>
        <p:spPr>
          <a:xfrm>
            <a:off x="409807" y="1182950"/>
            <a:ext cx="2979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Fetch recommended restaurants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Send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requests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to application server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If successful,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location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and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recommendations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are returned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50" name="Google Shape;150;g3a4b9e75780_0_84" title="Screenshot 2025-11-22 at 5.45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3957" y="631439"/>
            <a:ext cx="5434230" cy="388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>
            <p:ph type="title"/>
          </p:nvPr>
        </p:nvSpPr>
        <p:spPr>
          <a:xfrm>
            <a:off x="228600" y="204476"/>
            <a:ext cx="55986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Condensed"/>
              <a:buNone/>
            </a:pPr>
            <a:r>
              <a:rPr lang="en-US" sz="2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 Diagram</a:t>
            </a:r>
            <a:endParaRPr b="0" sz="27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355650" y="1080675"/>
            <a:ext cx="4035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Classes with methods that are inherited 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Numbers next to classes indicate cardinality of relationships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User is inherited by several classes: customer, sysadmin, restaurant owner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Actions are denoted by filled arrows: e.g. customers submit reviews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57" name="Google Shape;157;p3" title="Screenshot 2025-11-22 at 4.31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8900" y="104150"/>
            <a:ext cx="4429148" cy="493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4b9e75780_0_101"/>
          <p:cNvSpPr txBox="1"/>
          <p:nvPr>
            <p:ph type="title"/>
          </p:nvPr>
        </p:nvSpPr>
        <p:spPr>
          <a:xfrm>
            <a:off x="228600" y="204476"/>
            <a:ext cx="55986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Condensed"/>
              <a:buNone/>
            </a:pPr>
            <a:r>
              <a:rPr lang="en-US" sz="2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Architectural Design</a:t>
            </a:r>
            <a:endParaRPr b="0" sz="27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g3a4b9e75780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888" y="1043476"/>
            <a:ext cx="6590223" cy="388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69230ee9d_3_13"/>
          <p:cNvSpPr txBox="1"/>
          <p:nvPr>
            <p:ph type="title"/>
          </p:nvPr>
        </p:nvSpPr>
        <p:spPr>
          <a:xfrm>
            <a:off x="-226500" y="586701"/>
            <a:ext cx="55986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Condensed"/>
              <a:buNone/>
            </a:pPr>
            <a:r>
              <a:rPr lang="en-US" sz="3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UI Prototype</a:t>
            </a:r>
            <a:endParaRPr b="0" sz="3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a69230ee9d_3_13"/>
          <p:cNvSpPr txBox="1"/>
          <p:nvPr/>
        </p:nvSpPr>
        <p:spPr>
          <a:xfrm>
            <a:off x="205025" y="1528425"/>
            <a:ext cx="5845800" cy="24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solidFill>
                  <a:schemeClr val="hlink"/>
                </a:solidFill>
                <a:hlinkClick r:id="rId3"/>
              </a:rPr>
              <a:t>https://powderuner.github.io/BiteScout/</a:t>
            </a:r>
            <a:br>
              <a:rPr lang="en-US" sz="2200"/>
            </a:br>
            <a:br>
              <a:rPr lang="en-US" sz="2200"/>
            </a:br>
            <a:r>
              <a:rPr lang="en-US" sz="2200"/>
              <a:t>HTML</a:t>
            </a:r>
            <a:br>
              <a:rPr lang="en-US" sz="2200"/>
            </a:br>
            <a:r>
              <a:rPr lang="en-US" sz="2200"/>
              <a:t>CSS</a:t>
            </a:r>
            <a:br>
              <a:rPr lang="en-US" sz="2200"/>
            </a:br>
            <a:r>
              <a:rPr lang="en-US" sz="2200"/>
              <a:t>JavaScript</a:t>
            </a:r>
            <a:endParaRPr sz="2200"/>
          </a:p>
        </p:txBody>
      </p:sp>
      <p:pic>
        <p:nvPicPr>
          <p:cNvPr id="170" name="Google Shape;170;g3a69230ee9d_3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1825" y="1340300"/>
            <a:ext cx="3612300" cy="38031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58de1776b_0_5"/>
          <p:cNvSpPr txBox="1"/>
          <p:nvPr>
            <p:ph type="title"/>
          </p:nvPr>
        </p:nvSpPr>
        <p:spPr>
          <a:xfrm>
            <a:off x="720000" y="444960"/>
            <a:ext cx="77037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Roboto Condensed"/>
                <a:ea typeface="Roboto Condensed"/>
                <a:cs typeface="Roboto Condensed"/>
                <a:sym typeface="Roboto Condensed"/>
              </a:rPr>
              <a:t>Conclusion</a:t>
            </a:r>
            <a:endParaRPr sz="27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6" name="Google Shape;176;g3a58de1776b_0_5"/>
          <p:cNvSpPr txBox="1"/>
          <p:nvPr>
            <p:ph idx="1" type="body"/>
          </p:nvPr>
        </p:nvSpPr>
        <p:spPr>
          <a:xfrm>
            <a:off x="720000" y="1278000"/>
            <a:ext cx="7703700" cy="33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The app aims to make the food searching process easier for customers, as it employs several features catered to dietary and personal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restrictions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It provides directions, reviews, and account management for personalized use.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 It utilizes secure routes for accounts and connects these accounts to various parts of the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r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estaurant system 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If implemented, the app will rival Uber Eats and DoorDash as it uses features from both apps alongside its own custom properties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●"/>
            </a:pP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Through careful software development, this project can become reality. </a:t>
            </a:r>
            <a:endParaRPr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>
            <p:ph type="title"/>
          </p:nvPr>
        </p:nvSpPr>
        <p:spPr>
          <a:xfrm>
            <a:off x="682625" y="225300"/>
            <a:ext cx="46638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Roboto Condensed"/>
              <a:buNone/>
            </a:pPr>
            <a:r>
              <a:rPr b="0" lang="en-US" sz="5500" u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 </a:t>
            </a:r>
            <a:r>
              <a:rPr b="0" i="1" lang="en-US" sz="5500" u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</a:t>
            </a:r>
            <a:r>
              <a:rPr i="1" lang="en-US" sz="55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FOR LISTENING! </a:t>
            </a:r>
            <a:endParaRPr b="0" sz="5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acher Onboarding for Schools by Slidesgo">
  <a:themeElements>
    <a:clrScheme name="Simple Light">
      <a:dk1>
        <a:srgbClr val="020603"/>
      </a:dk1>
      <a:lt1>
        <a:srgbClr val="F4F1EC"/>
      </a:lt1>
      <a:dk2>
        <a:srgbClr val="020603"/>
      </a:dk2>
      <a:lt2>
        <a:srgbClr val="B5C6BC"/>
      </a:lt2>
      <a:accent1>
        <a:srgbClr val="FC7D80"/>
      </a:accent1>
      <a:accent2>
        <a:srgbClr val="AAA9A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060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2025-11-17T18:54:50Z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